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36576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4" name="Image 1" descr="/tmp/deckbuild/logo_tcs_a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20240" cy="6949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22860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 &amp; AMD AI Hackathon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502920" y="27432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Truth</a:t>
            </a:r>
            <a:pPr indent="0" marL="0">
              <a:buNone/>
            </a:pPr>
            <a:r>
              <a:rPr lang="en-US" sz="6000" b="1" dirty="0">
                <a:solidFill>
                  <a:srgbClr val="ED1C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</a:t>
            </a:r>
            <a:endParaRPr lang="en-US" sz="6000" dirty="0"/>
          </a:p>
        </p:txBody>
      </p:sp>
      <p:sp>
        <p:nvSpPr>
          <p:cNvPr id="7" name="Text 3"/>
          <p:cNvSpPr/>
          <p:nvPr/>
        </p:nvSpPr>
        <p:spPr>
          <a:xfrm>
            <a:off x="548640" y="388620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Telco-Specific Customer LLM — a hallucination-resistant, fine-tuned support model on AMD MI300X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3 · Fine-Tuning · FINETUNING_002      |      Prashant Patil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INFORMATION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TruthLine — Telco-Specific Customer LLM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4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58368" y="2112264"/>
            <a:ext cx="5129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459736"/>
            <a:ext cx="51297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Prashant Patil   (Emp ID: 2437783)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172200" y="1965960"/>
            <a:ext cx="5532120" cy="1371600"/>
          </a:xfrm>
          <a:prstGeom prst="roundRect">
            <a:avLst>
              <a:gd name="adj" fmla="val 4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373368" y="2112264"/>
            <a:ext cx="5129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/ ROLE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373368" y="2459736"/>
            <a:ext cx="51297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Prashant Patil — solo participant. Research, dataset curation, fine-tuning, multi-agent engineering, evaluation, business case &amp; presentation.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57200" y="3520440"/>
            <a:ext cx="11247120" cy="1234440"/>
          </a:xfrm>
          <a:prstGeom prst="roundRect">
            <a:avLst>
              <a:gd name="adj" fmla="val 4444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" y="3666744"/>
            <a:ext cx="10844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8368" y="4014216"/>
            <a:ext cx="1084478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TruthLine — a domain-expert telecom support LLM: proprietary knowledge in the weights, facts in the knowledge fabric, tools on the protocol, humans in the loop.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37760"/>
            <a:ext cx="11247120" cy="1600200"/>
          </a:xfrm>
          <a:prstGeom prst="roundRect">
            <a:avLst>
              <a:gd name="adj" fmla="val 3429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8368" y="5084064"/>
            <a:ext cx="10844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58368" y="5431536"/>
            <a:ext cx="108447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domain-expert telecom support LLM. We fine-tuned Qwen3-14B on AMD Instinct MI300X so proprietary knowledge — internal billing codes, router hardware, error codes — lives in the model's weights, wrapped in an agentic pipeline: guardrails, clarity gate, semantic cache, hybrid RAG, model router, trust gate, MCP enterprise tools, and a data flywheel. Result: held-out accuracy 22% → 94%, at 74% fewer tokens per answer — on one AMD GPU, with zero external API calls.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CONTEXT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Generic LLMs hallucinate on proprietary telecom knowledge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1965960"/>
            <a:ext cx="11247120" cy="1554480"/>
          </a:xfrm>
          <a:prstGeom prst="roundRect">
            <a:avLst>
              <a:gd name="adj" fmla="val 3529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58368" y="2112264"/>
            <a:ext cx="10844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 (use case FINETUNING_002)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459736"/>
            <a:ext cx="1084478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public LLMs hallucinate when faced with proprietary telecom jargon, specific router hardware models, and complex internal billing codes. Fine-tuning an open-source model on years of anonymized telecom support transcripts and technical manuals to create a domain-expert support model that provides perfectly accurate, step-by-step troubleshooting.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57200" y="370332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8368" y="38496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 / STAKEHOLDERS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58368" y="4197096"/>
            <a:ext cx="325526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contact centres — customer self-service and agent-assist.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Broadly: any enterprise whose vocabulary (codes, SKUs, procedures) isn't on the public internet.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Stakeholders: support agents, NOC/operations, customers, support-cost owners.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251960" y="370332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453128" y="38496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453128" y="4197096"/>
            <a:ext cx="325526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is high-volume and policy-bound; every confident wrong answer becomes a complaint, escalation, or churn — risk manufactured by the AI itself.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step-by-step answers deflect tickets and cut handle time, at 74% fewer tokens (~4x throughput per GPU).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370332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47888" y="38496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HACKATHON CHALLENGE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247888" y="4197096"/>
            <a:ext cx="325526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3 — Fine-Tuning (Advanced).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FINETUNING_002: Telco-Specific Customer LLM.</a:t>
            </a: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endParaRPr lang="en-US" sz="12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PEFT / LoRA fine-tuning with measurable, reproducible accuracy and efficiency gains over the base model.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Eight-stage agentic pipeline, fully on AMD MI300X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182880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EFEFEC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19456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query</a:t>
            </a:r>
            <a:pPr algn="ctr" indent="0" marL="0">
              <a:lnSpc>
                <a:spcPct val="95000"/>
              </a:lnSpc>
              <a:buNone/>
            </a:pP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1261872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9" name="Shape 5"/>
          <p:cNvSpPr/>
          <p:nvPr/>
        </p:nvSpPr>
        <p:spPr>
          <a:xfrm>
            <a:off x="1353312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389888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PII·inject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432304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523744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560320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gate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first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602736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3694176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E1F5EE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730752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cache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0-GPU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773168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4864608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EFEFEC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901184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943600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35040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071616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BM25+vec·RRF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114032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7205472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242048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router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284464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8375904" y="1883664"/>
            <a:ext cx="1078992" cy="457200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412480" y="1911096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1.5B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8375904" y="2414016"/>
            <a:ext cx="1078992" cy="457200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412480" y="2441448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14B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9454896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9546336" y="2048256"/>
            <a:ext cx="1078992" cy="658368"/>
          </a:xfrm>
          <a:prstGeom prst="roundRect">
            <a:avLst>
              <a:gd name="adj" fmla="val 6944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9582912" y="2075688"/>
            <a:ext cx="1005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gate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&lt;0.6 esc.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10625328" y="2377440"/>
            <a:ext cx="91440" cy="914"/>
          </a:xfrm>
          <a:prstGeom prst="line">
            <a:avLst/>
          </a:prstGeom>
          <a:noFill/>
          <a:ln w="15875">
            <a:solidFill>
              <a:srgbClr val="9A968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10716768" y="1883664"/>
            <a:ext cx="1078992" cy="457200"/>
          </a:xfrm>
          <a:prstGeom prst="roundRect">
            <a:avLst>
              <a:gd name="adj" fmla="val 10000"/>
            </a:avLst>
          </a:prstGeom>
          <a:solidFill>
            <a:srgbClr val="EFEFEC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10753344" y="1911096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OK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10716768" y="2414016"/>
            <a:ext cx="1078992" cy="457200"/>
          </a:xfrm>
          <a:prstGeom prst="roundRect">
            <a:avLst>
              <a:gd name="adj" fmla="val 10000"/>
            </a:avLst>
          </a:prstGeom>
          <a:solidFill>
            <a:srgbClr val="FBE3E4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753344" y="2441448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Human+MCP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182880" y="3291840"/>
            <a:ext cx="11612880" cy="457200"/>
          </a:xfrm>
          <a:prstGeom prst="roundRect">
            <a:avLst>
              <a:gd name="adj" fmla="val 10000"/>
            </a:avLst>
          </a:prstGeom>
          <a:solidFill>
            <a:srgbClr val="E1F5EE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219456" y="3319272"/>
            <a:ext cx="115397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Instinct MI300X · 192 GB · ROCm
</a:t>
            </a:r>
            <a:pPr algn="ctr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fine-tuned lanes trained (~60 s) and served on one card · live rocm-smi telemetry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182880" y="3813048"/>
            <a:ext cx="1179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flywheel:  approved answers → ground-truth store → semantic cache (instant, 0-GPU) + ~60-second LoRA retrain → smarter weights, nightly</a:t>
            </a:r>
            <a:endParaRPr lang="en-US" sz="1050" dirty="0"/>
          </a:p>
        </p:txBody>
      </p:sp>
      <p:sp>
        <p:nvSpPr>
          <p:cNvPr id="42" name="Shape 38"/>
          <p:cNvSpPr/>
          <p:nvPr/>
        </p:nvSpPr>
        <p:spPr>
          <a:xfrm>
            <a:off x="457200" y="416052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58368" y="43068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APPROACH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658368" y="4654296"/>
            <a:ext cx="32552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(PEFT / LoRA) embeds proprietary domain knowledge in the weights; RAG grounds facts that change. Agentic orchestration on LangGraph with MCP enterprise tools and a feedback-to-weights data flywheel.</a:t>
            </a:r>
            <a:endParaRPr lang="en-US" sz="1150" dirty="0"/>
          </a:p>
        </p:txBody>
      </p:sp>
      <p:sp>
        <p:nvSpPr>
          <p:cNvPr id="45" name="Shape 41"/>
          <p:cNvSpPr/>
          <p:nvPr/>
        </p:nvSpPr>
        <p:spPr>
          <a:xfrm>
            <a:off x="4251960" y="416052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4453128" y="43068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TECHNOLOGIES</a:t>
            </a:r>
            <a:endParaRPr lang="en-US" sz="1200" dirty="0"/>
          </a:p>
        </p:txBody>
      </p:sp>
      <p:sp>
        <p:nvSpPr>
          <p:cNvPr id="47" name="Text 43"/>
          <p:cNvSpPr/>
          <p:nvPr/>
        </p:nvSpPr>
        <p:spPr>
          <a:xfrm>
            <a:off x="4453128" y="4654296"/>
            <a:ext cx="32552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Qwen3-14B + Qwen2.5-1.5B (open weights) · HuggingFace transformers + PEFT/LoRA (bf16) · LangGraph · LangChain hybrid RAG (BM25 + ChromaDB, RRF) · MCP SDK · vLLM · Streamlit · FastAPI · rocm-smi. AMD MI300X / ROCm — zero external API calls.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8046720" y="416052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8247888" y="430682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DURING HACKATHON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247888" y="4654296"/>
            <a:ext cx="325526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it, from scratch: curated corpus + invented proprietary layer; LoRA fine-tuning of 14B + 1.5B; the LangGraph pipeline; guardrails, cache, router, trust gate; MCP server (expert routing, ITSM, outage feed); hybrid RAG; data flywheel; eval harness; 5-tab AMD console.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INSIGHTS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22% → 94% accuracy · 74% fewer tokens · ~60s retrain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1965960"/>
            <a:ext cx="2743200" cy="1280160"/>
          </a:xfrm>
          <a:prstGeom prst="roundRect">
            <a:avLst>
              <a:gd name="adj" fmla="val 4286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213055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22% → 94%</a:t>
            </a:r>
            <a:endParaRPr lang="en-US" sz="2600" dirty="0"/>
          </a:p>
        </p:txBody>
      </p:sp>
      <p:sp>
        <p:nvSpPr>
          <p:cNvPr id="8" name="Text 4"/>
          <p:cNvSpPr/>
          <p:nvPr/>
        </p:nvSpPr>
        <p:spPr>
          <a:xfrm>
            <a:off x="594360" y="2715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accuracy (18 paraphrased Qs)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3337560" y="1965960"/>
            <a:ext cx="2743200" cy="1280160"/>
          </a:xfrm>
          <a:prstGeom prst="roundRect">
            <a:avLst>
              <a:gd name="adj" fmla="val 4286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74720" y="213055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−74%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3474720" y="2715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tokens/answer (302 → 78) · −51% latency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17920" y="1965960"/>
            <a:ext cx="2743200" cy="1280160"/>
          </a:xfrm>
          <a:prstGeom prst="roundRect">
            <a:avLst>
              <a:gd name="adj" fmla="val 4286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355080" y="213055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~60 s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6355080" y="271576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LoRA retrain on one MI300X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9098280" y="1965960"/>
            <a:ext cx="2606040" cy="1280160"/>
          </a:xfrm>
          <a:prstGeom prst="roundRect">
            <a:avLst>
              <a:gd name="adj" fmla="val 4286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235440" y="2130552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98% @ 740W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9235440" y="271576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utilization (rocm-smi)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57200" y="3429000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58368" y="357530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USED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58368" y="3922776"/>
            <a:ext cx="3255264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Qwen/Qwen3-14B — expert lane (LoRA, adapter-merged).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Qwen/Qwen2.5-1.5B — fast lane.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Qwen3-14B kept loadable for live hallucination comparison.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Embeddings: all-MiniLM-L6-v2.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251960" y="3429000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453128" y="357530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(FINE-TUNING)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453128" y="3922776"/>
            <a:ext cx="3255264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 synthetic instruction-response samples (68 unique answers), incl. a proprietary layer of 24 invented internal facts — billing codes, CPE hardware, error codes.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deliberately so they're absent from any base model's pretraining, making the accuracy gain provable. Production swaps in anonymized transcripts.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046720" y="3429000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47888" y="3575304"/>
            <a:ext cx="3255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· TOKENS · LATENCY · GPU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8247888" y="3922776"/>
            <a:ext cx="3255264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LoRA bf16, rank 32, 12 epochs, ~0.9% of params; ~60s (14B), ~55s (1.5B).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78/answer fine-tuned vs 302 base (B-204: 66 vs 320-cap).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cache ~10ms · 1.5B ~1-2s · 14B ~4-13s.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GPU: 192GB MI300X; full stack &lt;35% of one card.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logo_tcs_a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92608"/>
            <a:ext cx="1554480" cy="566928"/>
          </a:xfrm>
          <a:prstGeom prst="rect">
            <a:avLst/>
          </a:prstGeom>
        </p:spPr>
      </p:pic>
      <p:pic>
        <p:nvPicPr>
          <p:cNvPr id="3" name="Image 1" descr="/tmp/deckbuild/logo_t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292608"/>
            <a:ext cx="420624" cy="39319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DEMO SUMMARY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457200" y="1188720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Trusted deflection that gets smarter every night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196596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58368" y="2112264"/>
            <a:ext cx="5129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 / VALUE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459736"/>
            <a:ext cx="51297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→ 94% accuracy and 74% fewer tokens (~4x throughput per GPU).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Low-trust answers escalate to the right on-call expert via MCP with an auto ITSM ticket — never reaching the customer. Repeat questions become zero-GPU cache hits, and the model improves nightly from human feedback in ~60s of GPU time, with no ML team in the loop.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172200" y="196596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373368" y="2112264"/>
            <a:ext cx="5129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DIFFERENTIATORS / INNOVATION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373368" y="2459736"/>
            <a:ext cx="5129784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Measurable fine-tuning — synthetic proprietary eval makes 22%→94% provable.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Data flywheel — approvals become a zero-GPU cache AND the next training set (viable only because retraining costs ~60s on AMD).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Right-sized compute — cache / 1.5B / 14B / human tiers on one card.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Self-policing trust gate; fully local on AMD ROCm.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57200" y="4480560"/>
            <a:ext cx="11247120" cy="2011680"/>
          </a:xfrm>
          <a:prstGeom prst="roundRect">
            <a:avLst>
              <a:gd name="adj" fmla="val 2727"/>
            </a:avLst>
          </a:prstGeom>
          <a:solidFill>
            <a:srgbClr val="F5F4F1"/>
          </a:solidFill>
          <a:ln w="12700">
            <a:solidFill>
              <a:srgbClr val="E3E1D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" y="4626864"/>
            <a:ext cx="108447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FLOW — LIVE HIGHLIGHTS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8368" y="4974336"/>
            <a:ext cx="1084478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Base vs fine-tuned, live — base invents internal code B-204; TruthLine answers correctly from its weights.   2. Pipeline trace — PII masked, model-router decision, live MCP outage feed, trust score.   3. Right-sizing — FAQ → 1.5B fast lane, proprietary codes → 14B expert.   4. Flywheel — thumbs-up an answer, re-ask → instant zero-GPU cache hit.   5. Self-policing — an invented price trips the trust gate → escalation + MCP ITSM ticket.   6. Observability — live rocm-smi telemetry; a ~60-second retrain at 98% GPU.   Result: 22% → 94% accuracy, −74% tokens.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9768"/>
            <a:ext cx="128016" cy="128016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STEP 1 OF 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4F1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decisions that kill hallucination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207008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2340864"/>
            <a:ext cx="10972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20640" y="22860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233172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469880" y="2286000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61320" y="233172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664208" y="2720340"/>
            <a:ext cx="3456432" cy="91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0" y="2720340"/>
            <a:ext cx="3611880" cy="91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02920" y="63550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EVERYONE STARTS   </a:t>
            </a:r>
            <a:pPr indent="0" marL="0">
              <a:buNone/>
            </a:pPr>
            <a:r>
              <a:rPr lang="en-US" sz="13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query → LLM → answer. This is where hallucination lives — the model answers whether it knows or not.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9768"/>
            <a:ext cx="128016" cy="128016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STEP 2 OF 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4F1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decisions that kill hallucination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207008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2340864"/>
            <a:ext cx="10972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20640" y="2286000"/>
            <a:ext cx="173736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75504" y="2340864"/>
            <a:ext cx="162763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Domain-expert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(1.5B)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469880" y="2286000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61320" y="2331720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664208" y="2720340"/>
            <a:ext cx="3456432" cy="91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0" y="2720340"/>
            <a:ext cx="3611880" cy="91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02920" y="63550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TRUTH IN THE WEIGHTS   </a:t>
            </a:r>
            <a:pPr indent="0" marL="0">
              <a:buNone/>
            </a:pPr>
            <a:r>
              <a:rPr lang="en-US" sz="13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60-second LoRA fine-tune turns the generic LLM into a domain-expert model. B-204 now lives in the weights.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9768"/>
            <a:ext cx="128016" cy="128016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STEP 3 OF 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4F1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decisions that kill hallucination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207008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2340864"/>
            <a:ext cx="10972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20640" y="2286000"/>
            <a:ext cx="13258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75504" y="2340864"/>
            <a:ext cx="12161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12280" y="1481328"/>
            <a:ext cx="164592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67144" y="1536192"/>
            <a:ext cx="153619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lane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1.5B fine-tuned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12280" y="3127248"/>
            <a:ext cx="164592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67144" y="3182112"/>
            <a:ext cx="153619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lane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14B · vLLM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469880" y="1481328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61320" y="1527048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664208" y="2720340"/>
            <a:ext cx="3456432" cy="91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6446520" y="1915668"/>
            <a:ext cx="365760" cy="69494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446520" y="2830068"/>
            <a:ext cx="365760" cy="731520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458200" y="1915668"/>
            <a:ext cx="2011680" cy="91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V="1">
            <a:off x="8458200" y="2007108"/>
            <a:ext cx="2011680" cy="1554480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02920" y="63550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COMPUTE   </a:t>
            </a:r>
            <a:pPr indent="0" marL="0">
              <a:buNone/>
            </a:pPr>
            <a:r>
              <a:rPr lang="en-US" sz="13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router sends simple FAQs to the 1.5B fast lane, proprietary codes to the 14B expert lane — in-process or served via vLLM. Never a bulldozer for a thumbtack.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9768"/>
            <a:ext cx="128016" cy="128016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STEP 4 OF 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4F1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decisions that kill hallucination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207008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2340864"/>
            <a:ext cx="10972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20640" y="2286000"/>
            <a:ext cx="13258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75504" y="2340864"/>
            <a:ext cx="12161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12280" y="1481328"/>
            <a:ext cx="164592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67144" y="1536192"/>
            <a:ext cx="153619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lane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1.5B fine-tuned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12280" y="3127248"/>
            <a:ext cx="164592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67144" y="3182112"/>
            <a:ext cx="153619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lane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14B · vLLM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469880" y="1481328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61320" y="1527048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977640" y="4434840"/>
            <a:ext cx="5486400" cy="640080"/>
          </a:xfrm>
          <a:prstGeom prst="roundRect">
            <a:avLst>
              <a:gd name="adj" fmla="val 10000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69080" y="448056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fabric — hybrid RAG (BM25 + vector, RRF) · MCP outage feed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664208" y="2720340"/>
            <a:ext cx="3456432" cy="91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6446520" y="1915668"/>
            <a:ext cx="365760" cy="69494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46520" y="2830068"/>
            <a:ext cx="365760" cy="731520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458200" y="1915668"/>
            <a:ext cx="2011680" cy="91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8458200" y="2007108"/>
            <a:ext cx="2011680" cy="1554480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7635240" y="4014216"/>
            <a:ext cx="914" cy="42062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02920" y="63550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IN THE KNOWLEDGE FABRIC   </a:t>
            </a:r>
            <a:pPr indent="0" marL="0">
              <a:buNone/>
            </a:pPr>
            <a:r>
              <a:rPr lang="en-US" sz="13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(BM25 + vector, RRF query fusion) grounds every answer; live enterprise data arrives over our MCP server.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9768"/>
            <a:ext cx="128016" cy="128016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STEP 5 OF 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4F1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decisions that kill hallucination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207008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2340864"/>
            <a:ext cx="10972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892808" y="2286000"/>
            <a:ext cx="13258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47672" y="2340864"/>
            <a:ext cx="12161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injection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47288" y="228600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2152" y="2340864"/>
            <a:ext cx="126187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gate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don't guess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13258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75504" y="2340864"/>
            <a:ext cx="12161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12280" y="1481328"/>
            <a:ext cx="164592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67144" y="1536192"/>
            <a:ext cx="153619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lane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1.5B fine-tuned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12280" y="3127248"/>
            <a:ext cx="164592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67144" y="3182112"/>
            <a:ext cx="153619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lane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14B · vLLM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23960" y="2286000"/>
            <a:ext cx="13258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78824" y="2340864"/>
            <a:ext cx="12161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gate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0.6 ↗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469880" y="1481328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61320" y="1527048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469880" y="3127248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24744" y="3182112"/>
            <a:ext cx="14447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expert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977640" y="4434840"/>
            <a:ext cx="5486400" cy="640080"/>
          </a:xfrm>
          <a:prstGeom prst="roundRect">
            <a:avLst>
              <a:gd name="adj" fmla="val 10000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448056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fabric — hybrid RAG (BM25 + vector, RRF) · MCP outage feed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64208" y="2720340"/>
            <a:ext cx="228600" cy="91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18688" y="2720340"/>
            <a:ext cx="228600" cy="91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818888" y="2720340"/>
            <a:ext cx="301752" cy="91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6446520" y="1915668"/>
            <a:ext cx="365760" cy="69494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46520" y="2830068"/>
            <a:ext cx="365760" cy="731520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458200" y="1915668"/>
            <a:ext cx="365760" cy="69494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8458200" y="2830068"/>
            <a:ext cx="365760" cy="731520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149840" y="1915668"/>
            <a:ext cx="320040" cy="694944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0149840" y="2830068"/>
            <a:ext cx="320040" cy="731520"/>
          </a:xfrm>
          <a:prstGeom prst="line">
            <a:avLst/>
          </a:prstGeom>
          <a:noFill/>
          <a:ln w="19050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7635240" y="4014216"/>
            <a:ext cx="914" cy="42062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502920" y="63550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 OF CARE   </a:t>
            </a:r>
            <a:pPr indent="0" marL="0">
              <a:buNone/>
            </a:pPr>
            <a:r>
              <a:rPr lang="en-US" sz="13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mask PII and block injections; the clarity gate asks instead of guessing; the trust gate routes low-trust answers via MCP to the on-call domain expert — never to the customer.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29768"/>
            <a:ext cx="128016" cy="128016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STEP 6 OF 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4F1E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 decisions that kill hallucination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207008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2340864"/>
            <a:ext cx="10972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892808" y="2286000"/>
            <a:ext cx="13258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47672" y="2340864"/>
            <a:ext cx="12161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injection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47288" y="228600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2152" y="2340864"/>
            <a:ext cx="126187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gate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don't guess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13258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75504" y="2340864"/>
            <a:ext cx="12161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router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12280" y="1481328"/>
            <a:ext cx="164592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67144" y="1536192"/>
            <a:ext cx="153619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lane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1.5B fine-tuned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12280" y="3127248"/>
            <a:ext cx="164592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67144" y="3182112"/>
            <a:ext cx="153619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lane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14B · vLLM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23960" y="2286000"/>
            <a:ext cx="13258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78824" y="2340864"/>
            <a:ext cx="12161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gate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0.6 ↗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469880" y="1481328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61320" y="1527048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469880" y="3127248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24744" y="3182112"/>
            <a:ext cx="14447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expert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9A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977640" y="4434840"/>
            <a:ext cx="5486400" cy="640080"/>
          </a:xfrm>
          <a:prstGeom prst="roundRect">
            <a:avLst>
              <a:gd name="adj" fmla="val 10000"/>
            </a:avLst>
          </a:prstGeom>
          <a:solidFill>
            <a:srgbClr val="1D1D1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448056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fabric — hybrid RAG (BM25 + vector, RRF) · MCP outage feed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0" y="5440680"/>
            <a:ext cx="2011680" cy="731520"/>
          </a:xfrm>
          <a:prstGeom prst="roundRect">
            <a:avLst>
              <a:gd name="adj" fmla="val 8750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83664" y="5495544"/>
            <a:ext cx="19019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DB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pairs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0" y="54406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26864" y="5495544"/>
            <a:ext cx="181051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Tier-zero cache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GPU · 10 ms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223760" y="5440680"/>
            <a:ext cx="2011680" cy="731520"/>
          </a:xfrm>
          <a:prstGeom prst="roundRect">
            <a:avLst>
              <a:gd name="adj" fmla="val 8750"/>
            </a:avLst>
          </a:prstGeom>
          <a:solidFill>
            <a:srgbClr val="1D1D1D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78624" y="5495544"/>
            <a:ext cx="1901952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 LoRA retrain
</a:t>
            </a:r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MI300X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664208" y="2720340"/>
            <a:ext cx="228600" cy="91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218688" y="2720340"/>
            <a:ext cx="228600" cy="91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818888" y="2720340"/>
            <a:ext cx="301752" cy="91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6446520" y="1915668"/>
            <a:ext cx="365760" cy="69494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446520" y="2830068"/>
            <a:ext cx="365760" cy="731520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458200" y="1915668"/>
            <a:ext cx="365760" cy="69494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8458200" y="2830068"/>
            <a:ext cx="365760" cy="731520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V="1">
            <a:off x="10149840" y="1915668"/>
            <a:ext cx="320040" cy="69494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0149840" y="2830068"/>
            <a:ext cx="320040" cy="731520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7635240" y="4014216"/>
            <a:ext cx="914" cy="420624"/>
          </a:xfrm>
          <a:prstGeom prst="line">
            <a:avLst/>
          </a:prstGeom>
          <a:noFill/>
          <a:ln w="19050">
            <a:solidFill>
              <a:srgbClr val="4A4A4A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1841480" y="2350008"/>
            <a:ext cx="914" cy="3922776"/>
          </a:xfrm>
          <a:prstGeom prst="line">
            <a:avLst/>
          </a:prstGeom>
          <a:noFill/>
          <a:ln w="15875">
            <a:solidFill>
              <a:srgbClr val="ED1C2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>
            <a:off x="2834640" y="6272784"/>
            <a:ext cx="9006840" cy="914"/>
          </a:xfrm>
          <a:prstGeom prst="line">
            <a:avLst/>
          </a:prstGeom>
          <a:noFill/>
          <a:ln w="15875">
            <a:solidFill>
              <a:srgbClr val="ED1C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834640" y="6190488"/>
            <a:ext cx="914" cy="82296"/>
          </a:xfrm>
          <a:prstGeom prst="line">
            <a:avLst/>
          </a:prstGeom>
          <a:noFill/>
          <a:ln w="15875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3840480" y="5806440"/>
            <a:ext cx="731520" cy="914"/>
          </a:xfrm>
          <a:prstGeom prst="line">
            <a:avLst/>
          </a:prstGeom>
          <a:noFill/>
          <a:ln w="15875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6492240" y="5806440"/>
            <a:ext cx="731520" cy="914"/>
          </a:xfrm>
          <a:prstGeom prst="line">
            <a:avLst/>
          </a:prstGeom>
          <a:noFill/>
          <a:ln w="15875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235440" y="5806440"/>
            <a:ext cx="548640" cy="914"/>
          </a:xfrm>
          <a:prstGeom prst="line">
            <a:avLst/>
          </a:prstGeom>
          <a:noFill/>
          <a:ln w="15875">
            <a:solidFill>
              <a:srgbClr val="ED1C2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9784080" y="3566160"/>
            <a:ext cx="914" cy="2240280"/>
          </a:xfrm>
          <a:prstGeom prst="line">
            <a:avLst/>
          </a:prstGeom>
          <a:noFill/>
          <a:ln w="15875">
            <a:solidFill>
              <a:srgbClr val="ED1C2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>
            <a:off x="8476488" y="3566160"/>
            <a:ext cx="1307592" cy="914"/>
          </a:xfrm>
          <a:prstGeom prst="line">
            <a:avLst/>
          </a:prstGeom>
          <a:noFill/>
          <a:ln w="15875">
            <a:solidFill>
              <a:srgbClr val="ED1C2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" y="635508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FLYWHEEL   </a:t>
            </a:r>
            <a:pPr indent="0" marL="0">
              <a:buNone/>
            </a:pPr>
            <a:r>
              <a:rPr lang="en-US" sz="13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thumbs-up becomes ground truth: served instantly from the tier-zero cache (zero GPU) and auto-merged into the next 60-second retrain. Every approval becomes tomorrow's weights.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build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36576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4" name="Image 1" descr="/tmp/deckbuild/logo_tcs_a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20240" cy="69494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1201400" y="365760"/>
            <a:ext cx="777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pic>
        <p:nvPicPr>
          <p:cNvPr id="6" name="Image 2" descr="/tmp/deckbuild/logo_ta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0" y="457200"/>
            <a:ext cx="411480" cy="3931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2743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8" name="Text 3"/>
          <p:cNvSpPr/>
          <p:nvPr/>
        </p:nvSpPr>
        <p:spPr>
          <a:xfrm>
            <a:off x="5486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pPr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domain truth in the weights, on AMD.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2026-06-15T17:50:24Z</dcterms:created>
  <dcterms:modified xsi:type="dcterms:W3CDTF">2026-06-15T17:50:24Z</dcterms:modified>
</cp:coreProperties>
</file>