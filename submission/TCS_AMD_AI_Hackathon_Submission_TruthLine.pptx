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build/titl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4" name="Image 1" descr="/tmp/deckbuild/logo_tcs_am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920240" cy="6949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&amp; AMD AI Hackathon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0292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Truth</a:t>
            </a:r>
            <a:pPr indent="0" marL="0">
              <a:buNone/>
            </a:pPr>
            <a:r>
              <a:rPr lang="en-US" sz="6000" b="1" dirty="0">
                <a:solidFill>
                  <a:srgbClr val="ED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548640" y="38862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Telco-Specific Customer LLM — a hallucination-resistant, fine-tuned support model on AMD MI300X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Fine-Tuning · FINETUNING_002      |      Prashant Patil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build/logo_tcs_a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554480" cy="566928"/>
          </a:xfrm>
          <a:prstGeom prst="rect">
            <a:avLst/>
          </a:prstGeom>
        </p:spPr>
      </p:pic>
      <p:pic>
        <p:nvPicPr>
          <p:cNvPr id="3" name="Image 1" descr="/tmp/deckbuild/logo_t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92608"/>
            <a:ext cx="420624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INFORMATION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11887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TruthLine — Telco-Specific Customer LLM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457200" y="196596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" y="2112264"/>
            <a:ext cx="5129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" y="2459736"/>
            <a:ext cx="51297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Patil   (Emp ID: &lt;fill your employee ID&gt;)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172200" y="196596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73368" y="2112264"/>
            <a:ext cx="5129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/ ROLE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373368" y="2459736"/>
            <a:ext cx="51297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Patil — solo participant. Research, dataset curation, fine-tuning, multi-agent engineering, evaluation, business case &amp; presentation.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52044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" y="3666744"/>
            <a:ext cx="10844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8368" y="4014216"/>
            <a:ext cx="108447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TruthLine — a domain-expert telecom support LLM: proprietary knowledge in the weights, facts in the knowledge fabric, tools on the protocol, humans in the loop.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4937760"/>
            <a:ext cx="11247120" cy="1600200"/>
          </a:xfrm>
          <a:prstGeom prst="roundRect">
            <a:avLst>
              <a:gd name="adj" fmla="val 3429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" y="5084064"/>
            <a:ext cx="10844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8368" y="5431536"/>
            <a:ext cx="108447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fine-tuned Qwen3-14B on AMD Instinct MI300X so proprietary telecom knowledge — internal billing codes, router hardware, error codes — lives in the model's weights, wrapped in an agentic pipeline (guardrails, clarity gate, semantic cache, hybrid RAG, model router, trust gate, MCP enterprise tools, data flywheel). Measured held-out accuracy rose from 22% (base) to 94% (fine-tuned), at 74% fewer tokens per answer.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build/logo_tcs_a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554480" cy="566928"/>
          </a:xfrm>
          <a:prstGeom prst="rect">
            <a:avLst/>
          </a:prstGeom>
        </p:spPr>
      </p:pic>
      <p:pic>
        <p:nvPicPr>
          <p:cNvPr id="3" name="Image 1" descr="/tmp/deckbuild/logo_t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92608"/>
            <a:ext cx="420624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CONTEXT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11887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457200" y="196596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" y="2112264"/>
            <a:ext cx="10844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(use case FINETUNING_002)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" y="2459736"/>
            <a:ext cx="10844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public LLMs hallucinate when faced with proprietary telecom jargon, specific router hardware models, and complex internal billing codes. Fine-tuning an open-source model on years of anonymized telecom support transcripts and technical manuals to create a domain-expert support model that provides perfectly accurate, step-by-step troubleshooting.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57200" y="370332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" y="384962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/ STAKEHOLDERS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8368" y="4197096"/>
            <a:ext cx="325526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contact centres — customer self-service and agent-assist.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Broadly: any enterprise whose vocabulary (codes, SKUs, procedures) isn't on the public internet.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support agents, NOC/operations, customers, support-cost owners.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51960" y="370332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53128" y="384962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53128" y="4197096"/>
            <a:ext cx="325526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is high-volume and policy-bound; every confident wrong answer becomes a complaint, escalation, or churn — risk manufactured by the AI itself.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step-by-step answers deflect tickets and cut handle time, at 74% fewer tokens (~4x throughput per GPU).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370332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47888" y="384962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HACKATHON CHALLENGE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47888" y="4197096"/>
            <a:ext cx="325526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Fine-Tuning (Advanced).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FINETUNING_002: Telco-Specific Customer LLM.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/ LoRA fine-tuning with measurable, reproducible accuracy and efficiency gains over the base model.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build/logo_tcs_a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554480" cy="566928"/>
          </a:xfrm>
          <a:prstGeom prst="rect">
            <a:avLst/>
          </a:prstGeom>
        </p:spPr>
      </p:pic>
      <p:pic>
        <p:nvPicPr>
          <p:cNvPr id="3" name="Image 1" descr="/tmp/deckbuild/logo_t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92608"/>
            <a:ext cx="420624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11887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Eight-stage agentic pipeline — every query earns its way to the GPU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82880" y="2048256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EFEFEC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19456" y="207568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query</a:t>
            </a:r>
            <a:pPr algn="ctr" indent="0" marL="0">
              <a:lnSpc>
                <a:spcPct val="95000"/>
              </a:lnSpc>
              <a:buNone/>
            </a:pP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1261872" y="2377440"/>
            <a:ext cx="91440" cy="914"/>
          </a:xfrm>
          <a:prstGeom prst="line">
            <a:avLst/>
          </a:prstGeom>
          <a:noFill/>
          <a:ln w="15875">
            <a:solidFill>
              <a:srgbClr val="9A968E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1353312" y="2048256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BE3E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389888" y="207568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PII·inject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432304" y="2377440"/>
            <a:ext cx="91440" cy="914"/>
          </a:xfrm>
          <a:prstGeom prst="line">
            <a:avLst/>
          </a:prstGeom>
          <a:noFill/>
          <a:ln w="15875">
            <a:solidFill>
              <a:srgbClr val="9A968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523744" y="2048256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BE3E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0" y="207568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gate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first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02736" y="2377440"/>
            <a:ext cx="91440" cy="914"/>
          </a:xfrm>
          <a:prstGeom prst="line">
            <a:avLst/>
          </a:prstGeom>
          <a:noFill/>
          <a:ln w="15875">
            <a:solidFill>
              <a:srgbClr val="9A968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694176" y="2048256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30752" y="207568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0-GPU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73168" y="2377440"/>
            <a:ext cx="91440" cy="914"/>
          </a:xfrm>
          <a:prstGeom prst="line">
            <a:avLst/>
          </a:prstGeom>
          <a:noFill/>
          <a:ln w="15875">
            <a:solidFill>
              <a:srgbClr val="9A968E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864608" y="2048256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EFEFEC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01184" y="207568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943600" y="2377440"/>
            <a:ext cx="91440" cy="914"/>
          </a:xfrm>
          <a:prstGeom prst="line">
            <a:avLst/>
          </a:prstGeom>
          <a:noFill/>
          <a:ln w="15875">
            <a:solidFill>
              <a:srgbClr val="9A968E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035040" y="2048256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BE3E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71616" y="207568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BM25+vec·RRF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114032" y="2377440"/>
            <a:ext cx="91440" cy="914"/>
          </a:xfrm>
          <a:prstGeom prst="line">
            <a:avLst/>
          </a:prstGeom>
          <a:noFill/>
          <a:ln w="15875">
            <a:solidFill>
              <a:srgbClr val="9A968E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7205472" y="2048256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BE3E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42048" y="207568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284464" y="2377440"/>
            <a:ext cx="91440" cy="914"/>
          </a:xfrm>
          <a:prstGeom prst="line">
            <a:avLst/>
          </a:prstGeom>
          <a:noFill/>
          <a:ln w="15875">
            <a:solidFill>
              <a:srgbClr val="9A968E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8375904" y="1883664"/>
            <a:ext cx="1078992" cy="45720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12480" y="191109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1.5B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375904" y="2414016"/>
            <a:ext cx="1078992" cy="45720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12480" y="244144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14B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9454896" y="2377440"/>
            <a:ext cx="91440" cy="914"/>
          </a:xfrm>
          <a:prstGeom prst="line">
            <a:avLst/>
          </a:prstGeom>
          <a:noFill/>
          <a:ln w="15875">
            <a:solidFill>
              <a:srgbClr val="9A968E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9546336" y="2048256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BE3E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582912" y="207568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gate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&lt;0.6 esc.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0625328" y="2377440"/>
            <a:ext cx="91440" cy="914"/>
          </a:xfrm>
          <a:prstGeom prst="line">
            <a:avLst/>
          </a:prstGeom>
          <a:noFill/>
          <a:ln w="15875">
            <a:solidFill>
              <a:srgbClr val="9A968E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10716768" y="1883664"/>
            <a:ext cx="1078992" cy="457200"/>
          </a:xfrm>
          <a:prstGeom prst="roundRect">
            <a:avLst>
              <a:gd name="adj" fmla="val 10000"/>
            </a:avLst>
          </a:prstGeom>
          <a:solidFill>
            <a:srgbClr val="EFEFEC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0753344" y="191109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OK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10716768" y="2414016"/>
            <a:ext cx="1078992" cy="457200"/>
          </a:xfrm>
          <a:prstGeom prst="roundRect">
            <a:avLst>
              <a:gd name="adj" fmla="val 10000"/>
            </a:avLst>
          </a:prstGeom>
          <a:solidFill>
            <a:srgbClr val="FBE3E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0753344" y="244144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Human+MCP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82880" y="3291840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19456" y="3319272"/>
            <a:ext cx="11539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Instinct MI300X · 192 GB · ROCm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fine-tuned lanes trained (~60 s) and served on one card · live rocm-smi telemetry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182880" y="3813048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flywheel:  approved answers → ground-truth store → semantic cache (instant, 0-GPU) + ~60-second LoRA retrain → smarter weights, nightly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457200" y="4160520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58368" y="430682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APPROACH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58368" y="4654296"/>
            <a:ext cx="32552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(PEFT / LoRA) embeds proprietary domain knowledge in the weights; RAG grounds facts that change. Agentic orchestration on LangGraph with MCP enterprise tools and a feedback-to-weights data flywheel.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4251960" y="4160520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453128" y="430682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4453128" y="4654296"/>
            <a:ext cx="32552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Qwen3-14B + Qwen2.5-1.5B (open weights) · HuggingFace transformers + PEFT/LoRA (bf16) · LangGraph · LangChain hybrid RAG (BM25 + ChromaDB, RRF) · MCP SDK · vLLM · Streamlit · FastAPI · rocm-smi. AMD MI300X / ROCm — zero external API calls.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8046720" y="4160520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247888" y="430682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DURING HACKATHON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8247888" y="4654296"/>
            <a:ext cx="32552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it, from scratch: curated corpus + invented proprietary layer; LoRA fine-tuning of 14B + 1.5B; the LangGraph pipeline; guardrails, cache, router, trust gate; MCP server (expert routing, ITSM, outage feed); hybrid RAG; data flywheel; eval harness; 5-tab AMD console.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build/logo_tcs_a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554480" cy="566928"/>
          </a:xfrm>
          <a:prstGeom prst="rect">
            <a:avLst/>
          </a:prstGeom>
        </p:spPr>
      </p:pic>
      <p:pic>
        <p:nvPicPr>
          <p:cNvPr id="3" name="Image 1" descr="/tmp/deckbuild/logo_t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92608"/>
            <a:ext cx="420624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11887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results, base vs fine-tuned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457200" y="1965960"/>
            <a:ext cx="2743200" cy="1280160"/>
          </a:xfrm>
          <a:prstGeom prst="roundRect">
            <a:avLst>
              <a:gd name="adj" fmla="val 428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2130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 → 94%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94360" y="2715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accuracy (18 paraphrased Qs)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337560" y="1965960"/>
            <a:ext cx="2743200" cy="1280160"/>
          </a:xfrm>
          <a:prstGeom prst="roundRect">
            <a:avLst>
              <a:gd name="adj" fmla="val 428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0" y="2130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−74%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474720" y="2715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tokens/answer (302 → 78) · −51% latency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1965960"/>
            <a:ext cx="2743200" cy="1280160"/>
          </a:xfrm>
          <a:prstGeom prst="roundRect">
            <a:avLst>
              <a:gd name="adj" fmla="val 428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55080" y="2130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 s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355080" y="2715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LoRA retrain on one MI300X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098280" y="196596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235440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 @ 740W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9235440" y="27157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 (rocm-smi)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42900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" y="357530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8368" y="3922776"/>
            <a:ext cx="32552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Qwen/Qwen3-14B — expert lane (LoRA, adapter-merged).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Qwen/Qwen2.5-1.5B — fast lane.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Qwen3-14B kept loadable for live hallucination comparison.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all-MiniLM-L6-v2.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251960" y="342900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53128" y="357530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(FINE-TUNING)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453128" y="3922776"/>
            <a:ext cx="32552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synthetic instruction-response samples (68 unique answers), incl. a proprietary layer of 24 invented internal facts — billing codes, CPE hardware, error codes.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deliberately so they're absent from any base model's pretraining, making the accuracy gain provable. Production swaps in anonymized transcripts.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46720" y="342900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47888" y="357530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TOKENS · LATENCY · GPU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247888" y="3922776"/>
            <a:ext cx="32552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LoRA bf16, rank 32, 12 epochs, ~0.9% of params; ~60s (14B), ~55s (1.5B).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78/answer fine-tuned vs 302 base (B-204: 66 vs 320-cap).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cache ~10ms · 1.5B ~1-2s · 14B ~4-13s.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192GB MI300X; full stack &lt;35% of one card.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build/logo_tcs_a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554480" cy="566928"/>
          </a:xfrm>
          <a:prstGeom prst="rect">
            <a:avLst/>
          </a:prstGeom>
        </p:spPr>
      </p:pic>
      <p:pic>
        <p:nvPicPr>
          <p:cNvPr id="3" name="Image 1" descr="/tmp/deckbuild/logo_t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92608"/>
            <a:ext cx="420624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DEMO SUMMARY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11887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matters, and what the jury will see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457200" y="1965960"/>
            <a:ext cx="5532120" cy="2331720"/>
          </a:xfrm>
          <a:prstGeom prst="roundRect">
            <a:avLst>
              <a:gd name="adj" fmla="val 2353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" y="2112264"/>
            <a:ext cx="5129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/ VALUE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" y="2459736"/>
            <a:ext cx="51297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deflection: low-trust answers escalate to the right on-call expert via MCP (with an auto ITSM ticket) instead of reaching the customer.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fewer tokens ≈ 4x throughput per GPU. Repeat questions become zero-GPU cache hits. The model improves nightly from human feedback in ~60s of GPU time — no ML team in the loop.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72200" y="1965960"/>
            <a:ext cx="5532120" cy="2331720"/>
          </a:xfrm>
          <a:prstGeom prst="roundRect">
            <a:avLst>
              <a:gd name="adj" fmla="val 2353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73368" y="2112264"/>
            <a:ext cx="5129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 / INNOVATION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373368" y="2459736"/>
            <a:ext cx="51297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Measurable fine-tuning — synthetic proprietary eval makes 22%→94% provable.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flywheel — approvals become a zero-GPU cache AND the next training set (viable only because retraining costs ~60s on AMD).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Right-sized compute — cache / 1.5B / 14B / human tiers on one card.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Self-policing trust gate; fully local on AMD ROCm.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4480560"/>
            <a:ext cx="11247120" cy="2011680"/>
          </a:xfrm>
          <a:prstGeom prst="roundRect">
            <a:avLst>
              <a:gd name="adj" fmla="val 2727"/>
            </a:avLst>
          </a:prstGeom>
          <a:solidFill>
            <a:srgbClr val="F5F4F1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" y="4626864"/>
            <a:ext cx="10844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  (what the jury should notice)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8368" y="4974336"/>
            <a:ext cx="10844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 vs fine-tuned, live — base invents internal code B-204; TruthLine answers correctly from its weights.   2. Pipeline trace — PII masked, model-router decision, live MCP outage feed, trust score.   3. Right-sizing — FAQ → 1.5B fast lane, proprietary codes → 14B expert.   4. Flywheel — thumbs-up an answer, re-ask → instant zero-GPU cache hit.   5. Self-policing — an invented price trips the trust gate → escalation + MCP ITSM ticket.   6. Observability — live rocm-smi telemetry; a ~60-second retrain at 98% GPU.   Result: 22% → 94% accuracy, −74% tokens.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build/titl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4" name="Image 1" descr="/tmp/deckbuild/logo_tcs_am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920240" cy="6949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201400" y="3657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pic>
        <p:nvPicPr>
          <p:cNvPr id="6" name="Image 2" descr="/tmp/deckbuild/logo_ta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457200"/>
            <a:ext cx="411480" cy="3931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3"/>
          <p:cNvSpPr/>
          <p:nvPr/>
        </p:nvSpPr>
        <p:spPr>
          <a:xfrm>
            <a:off x="54864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</a:t>
            </a:r>
            <a:pPr indent="0" marL="0">
              <a:buNone/>
            </a:pPr>
            <a:r>
              <a:rPr lang="en-US" sz="18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domain truth in the weights, on AMD.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2026-06-15T17:12:31Z</dcterms:created>
  <dcterms:modified xsi:type="dcterms:W3CDTF">2026-06-15T17:12:31Z</dcterms:modified>
</cp:coreProperties>
</file>